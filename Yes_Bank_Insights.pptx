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Score</c:v>
                </c:pt>
              </c:strCache>
            </c:strRef>
          </c:tx>
          <c:spPr>
            <a:solidFill>
              <a:srgbClr val="8899B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899B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899B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D6FA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9F8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9F8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D6FA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D6FA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Month</c:v>
                  </c:pt>
                  <c:pt idx="1">
                    <c:v>Price_Change%</c:v>
                  </c:pt>
                  <c:pt idx="2">
                    <c:v>Year</c:v>
                  </c:pt>
                  <c:pt idx="3">
                    <c:v>Price_Range</c:v>
                  </c:pt>
                  <c:pt idx="4">
                    <c:v>Prev_Close</c:v>
                  </c:pt>
                  <c:pt idx="5">
                    <c:v>Low</c:v>
                  </c:pt>
                  <c:pt idx="6">
                    <c:v>High</c:v>
                  </c:pt>
                  <c:pt idx="7">
                    <c:v>Open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6</c:v>
                </c:pt>
                <c:pt idx="2">
                  <c:v>9</c:v>
                </c:pt>
                <c:pt idx="3">
                  <c:v>12</c:v>
                </c:pt>
                <c:pt idx="4">
                  <c:v>18</c:v>
                </c:pt>
                <c:pt idx="5">
                  <c:v>20</c:v>
                </c:pt>
                <c:pt idx="6">
                  <c:v>22</c:v>
                </c:pt>
                <c:pt idx="7">
                  <c:v>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EDF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B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2744"/>
        </a:solidFill>
        <a:ln>
          <a:noFill/>
        </a:ln>
        <a:effectLst/>
      </c:spPr>
    </c:plotArea>
    <c:plotVisOnly val="1"/>
    <c:dispBlanksAs val="span"/>
  </c:chart>
  <c:spPr>
    <a:solidFill>
      <a:srgbClr val="1A274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2744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64008" cy="514350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11480"/>
            <a:ext cx="1371600" cy="36576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YES BANK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Stock Price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Closing Price Prediction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Machine Learning Regression Analysis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47548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71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BB"/>
                </a:solidFill>
              </a:rPr>
              <a:t>Author: </a:t>
            </a:r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Harshvardhan Paradkar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BB"/>
                </a:solidFill>
              </a:rPr>
              <a:t>Dataset: </a:t>
            </a:r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185 Monthly Records  |  Jul 2005 – Nov 2020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BB"/>
                </a:solidFill>
              </a:rPr>
              <a:t>Type: </a:t>
            </a:r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EDA / Supervised Regression  |  ML Capstone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80760" y="4572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185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080760" y="10241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</a:rPr>
              <a:t>Monthly Records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80760" y="15544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₹404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080760" y="212140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</a:rPr>
              <a:t>All-Time High (2018)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80760" y="26517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080760" y="321868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</a:rPr>
              <a:t>Post-Crisis Low (2020)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80760" y="37490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080760" y="43159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</a:rPr>
              <a:t>ML Models Trained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Machine Learning &amp; GenAI with Microsoft Azure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Context &amp; Problem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023360" cy="3931920"/>
          </a:xfrm>
          <a:prstGeom prst="rect">
            <a:avLst/>
          </a:prstGeom>
          <a:solidFill>
            <a:srgbClr val="1A27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68680"/>
            <a:ext cx="54864" cy="393192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960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9F8E"/>
                </a:solidFill>
              </a:rPr>
              <a:t>BUSINESS CONTEXT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3703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</a:rPr>
              <a:t>Yes Bank founded 2004 by Rana Kapoor &amp; Ashok Kapur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</a:rPr>
              <a:t>Grew into one of India's top 5 private sector banks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</a:rPr>
              <a:t>2018: Rana Kapoor fraud case exposed — stock began collapsing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</a:rPr>
              <a:t>2020: RBI imposed moratorium; SBI-led rescue initiated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</a:rPr>
              <a:t>Stock crashed from ₹404 (Aug 2018) → ₹10 (Mar 2020)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</a:rPr>
              <a:t>15 years of gains erased in under 2 years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868680"/>
            <a:ext cx="4023360" cy="3931920"/>
          </a:xfrm>
          <a:prstGeom prst="rect">
            <a:avLst/>
          </a:prstGeom>
          <a:solidFill>
            <a:srgbClr val="1A27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868680"/>
            <a:ext cx="54864" cy="393192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9472" y="960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017"/>
                </a:solidFill>
              </a:rPr>
              <a:t>PROBLEM STATEMENT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19472" y="132588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Predict the monthly Closing Stock Price of Yes Bank using its OHLC data.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9472" y="2011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</a:rPr>
              <a:t>Target Variable: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82512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Close (INR) — monthly closing price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19472" y="248716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</a:rPr>
              <a:t>Input Features: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82512" y="24871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Open, High, Low + 8 engineered features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19472" y="296265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</a:rPr>
              <a:t>Timeframe: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82512" y="296265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Jul 2005 – Nov 2020 (185 months)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19472" y="343814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</a:rPr>
              <a:t>Problem Type: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82512" y="343814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Supervised Regression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19472" y="391363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</a:rPr>
              <a:t>Challenge: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82512" y="39136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</a:rPr>
              <a:t>Model both the bull-run &amp; the crisis crash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920240" cy="1005840"/>
          </a:xfrm>
          <a:prstGeom prst="rect">
            <a:avLst/>
          </a:prstGeom>
          <a:solidFill>
            <a:srgbClr val="1A27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41248"/>
            <a:ext cx="1920240" cy="54864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6F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4447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Monthly Records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841248"/>
            <a:ext cx="1920240" cy="1005840"/>
          </a:xfrm>
          <a:prstGeom prst="rect">
            <a:avLst/>
          </a:prstGeom>
          <a:solidFill>
            <a:srgbClr val="1A27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468880" y="841248"/>
            <a:ext cx="1920240" cy="5486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914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9F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68880" y="14447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Original Columns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841248"/>
            <a:ext cx="1920240" cy="1005840"/>
          </a:xfrm>
          <a:prstGeom prst="rect">
            <a:avLst/>
          </a:prstGeom>
          <a:solidFill>
            <a:srgbClr val="1A27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841248"/>
            <a:ext cx="1920240" cy="54864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914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72000" y="14447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Missing Values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75120" y="841248"/>
            <a:ext cx="1920240" cy="1005840"/>
          </a:xfrm>
          <a:prstGeom prst="rect">
            <a:avLst/>
          </a:prstGeom>
          <a:solidFill>
            <a:srgbClr val="1A27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75120" y="841248"/>
            <a:ext cx="192024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914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₹98.6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675120" y="14447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Std Dev of Close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965960"/>
          <a:ext cx="8412480" cy="2560320"/>
        </p:xfrm>
        <a:graphic>
          <a:graphicData uri="http://schemas.openxmlformats.org/drawingml/2006/table">
            <a:tbl>
              <a:tblPr/>
              <a:tblGrid>
                <a:gridCol w="1188720"/>
                <a:gridCol w="1005840"/>
                <a:gridCol w="3840480"/>
                <a:gridCol w="23774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FA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FA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FA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Range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FA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DF5"/>
                          </a:solidFill>
                        </a:rPr>
                        <a:t>Date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DF5"/>
                          </a:solidFill>
                        </a:rPr>
                        <a:t>object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DF5"/>
                          </a:solidFill>
                        </a:rPr>
                        <a:t>Month-Year (Jul-05 format)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DF5"/>
                          </a:solidFill>
                        </a:rPr>
                        <a:t>Jul 2005 – Nov 2020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DF5"/>
                          </a:solidFill>
                        </a:rPr>
                        <a:t>Open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DF5"/>
                          </a:solidFill>
                        </a:rPr>
                        <a:t>float64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DF5"/>
                          </a:solidFill>
                        </a:rPr>
                        <a:t>Opening price of the month (INR)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DF5"/>
                          </a:solidFill>
                        </a:rPr>
                        <a:t>₹10.30 – ₹404.00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DF5"/>
                          </a:solidFill>
                        </a:rPr>
                        <a:t>High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DF5"/>
                          </a:solidFill>
                        </a:rPr>
                        <a:t>float64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DF5"/>
                          </a:solidFill>
                        </a:rPr>
                        <a:t>Highest price during the month (INR)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DF5"/>
                          </a:solidFill>
                        </a:rPr>
                        <a:t>₹11.10 – ₹403.50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DF5"/>
                          </a:solidFill>
                        </a:rPr>
                        <a:t>Low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DF5"/>
                          </a:solidFill>
                        </a:rPr>
                        <a:t>float64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DF5"/>
                          </a:solidFill>
                        </a:rPr>
                        <a:t>Lowest price during the month (INR)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DF5"/>
                          </a:solidFill>
                        </a:rPr>
                        <a:t>₹8.70 – ₹354.35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D4A017"/>
                          </a:solidFill>
                        </a:rPr>
                        <a:t>Close ★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DF5"/>
                          </a:solidFill>
                        </a:rPr>
                        <a:t>float64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DF5"/>
                          </a:solidFill>
                        </a:rPr>
                        <a:t>Closing price — TARGET VARIABLE (INR)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8EDF5"/>
                          </a:solidFill>
                        </a:rPr>
                        <a:t>₹9.98 – ₹367.95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365760" y="4663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4A017"/>
                </a:solidFill>
              </a:rPr>
              <a:t>★ Target Variable for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Insight 1 — Two-Phase Stock Trajectory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2999232" cy="256032"/>
          </a:xfrm>
          <a:prstGeom prst="roundRect">
            <a:avLst>
              <a:gd name="adj" fmla="val 50000"/>
            </a:avLst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1323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CANDLESTICK + LINE CHART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977640" cy="3474720"/>
          </a:xfrm>
          <a:prstGeom prst="rect">
            <a:avLst/>
          </a:prstGeom>
          <a:solidFill>
            <a:srgbClr val="1A27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54864" cy="347472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430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A169"/>
                </a:solidFill>
              </a:rPr>
              <a:t>📈  BULL PHASE  (2005–2018)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36192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DF5"/>
                </a:solidFill>
              </a:rPr>
              <a:t>₹12 → ₹404 in 13 years (+3200% growth)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DF5"/>
                </a:solidFill>
              </a:rPr>
              <a:t>Predominantly GREEN candlesticks monthly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DF5"/>
                </a:solidFill>
              </a:rPr>
              <a:t>3-MA consistently above 6-MA (Golden Cross)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DF5"/>
                </a:solidFill>
              </a:rPr>
              <a:t>Volatility extremely low: ₹2–5 price range/month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DF5"/>
                </a:solidFill>
              </a:rPr>
              <a:t>Ideal buy-and-hold investment period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977640" cy="3474720"/>
          </a:xfrm>
          <a:prstGeom prst="rect">
            <a:avLst/>
          </a:prstGeom>
          <a:solidFill>
            <a:srgbClr val="1A27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54864" cy="34747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1430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E3E"/>
                </a:solidFill>
              </a:rPr>
              <a:t>📉  BEAR PHASE  (2018–2020)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9472" y="1536192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DF5"/>
                </a:solidFill>
              </a:rPr>
              <a:t>₹404 → ₹10 in under 2 years (−97% crash)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DF5"/>
                </a:solidFill>
              </a:rPr>
              <a:t>Long RED candles with massive wicks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DF5"/>
                </a:solidFill>
              </a:rPr>
              <a:t>3-MA crossed below 6-MA (Death Cross — sell signal)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DF5"/>
                </a:solidFill>
              </a:rPr>
              <a:t>Volatility exploded: ₹100+ price range/month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DF5"/>
                </a:solidFill>
              </a:rPr>
              <a:t>Rana Kapoor fraud case triggered the collapse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466344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4A017"/>
                </a:solidFill>
              </a:rPr>
              <a:t>💡  Insight: The 2018 Death Cross (3-MA below 6-MA) was a clear algorithmic sell signal — investors using MAs would have exited before the worst of the crash.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Insights 2 — Volatility &amp; Correlations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3977640" cy="1828800"/>
          </a:xfrm>
          <a:prstGeom prst="rect">
            <a:avLst/>
          </a:prstGeom>
          <a:solidFill>
            <a:srgbClr val="1A27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04672"/>
            <a:ext cx="54864" cy="182880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OHLC Correlation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EDF5"/>
                </a:solidFill>
              </a:rPr>
              <a:t>Open, High, Low all correlate with Close at r &gt; 0.99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EDF5"/>
                </a:solidFill>
              </a:rPr>
              <a:t>Near-perfect multicollinearity — log transform needed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EDF5"/>
                </a:solidFill>
              </a:rPr>
              <a:t>Year correlates r ≈ 0.65 (trend capture)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EDF5"/>
                </a:solidFill>
              </a:rPr>
              <a:t>Month near-zero — no seasonal pattern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804672"/>
            <a:ext cx="3977640" cy="1828800"/>
          </a:xfrm>
          <a:prstGeom prst="rect">
            <a:avLst/>
          </a:prstGeom>
          <a:solidFill>
            <a:srgbClr val="1A27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804672"/>
            <a:ext cx="54864" cy="182880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8961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🔁 Autocorrelation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126187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EDF5"/>
                </a:solidFill>
              </a:rPr>
              <a:t>Prev_Close vs Close: strong lag-1 autocorrelation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EDF5"/>
                </a:solidFill>
              </a:rPr>
              <a:t>Points hug the y=x line — prices are 'sticky'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EDF5"/>
                </a:solidFill>
              </a:rPr>
              <a:t>Last month's close is the best single predictor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EDF5"/>
                </a:solidFill>
              </a:rPr>
              <a:t>Except during crisis: abrupt jumps break the pattern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852928"/>
            <a:ext cx="3977640" cy="1828800"/>
          </a:xfrm>
          <a:prstGeom prst="rect">
            <a:avLst/>
          </a:prstGeom>
          <a:solidFill>
            <a:srgbClr val="1A27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852928"/>
            <a:ext cx="54864" cy="18288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443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⚡ Volatility Spike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310128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EDF5"/>
                </a:solidFill>
              </a:rPr>
              <a:t>Rolling 6-month Std Dev &lt; ₹5 until 2014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EDF5"/>
                </a:solidFill>
              </a:rPr>
              <a:t>Peaked at ₹80+ during 2018–2019 crisis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EDF5"/>
                </a:solidFill>
              </a:rPr>
              <a:t>Price range (High–Low) rose from ₹2 to ₹100+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EDF5"/>
                </a:solidFill>
              </a:rPr>
              <a:t>High vol = high prediction error for models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2852928"/>
            <a:ext cx="3977640" cy="1828800"/>
          </a:xfrm>
          <a:prstGeom prst="rect">
            <a:avLst/>
          </a:prstGeom>
          <a:solidFill>
            <a:srgbClr val="1A27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852928"/>
            <a:ext cx="54864" cy="1828800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9443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📅 No Seasonality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3310128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EDF5"/>
                </a:solidFill>
              </a:rPr>
              <a:t>Monthly avg Close uniform: ₹95–₹115 all months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EDF5"/>
                </a:solidFill>
              </a:rPr>
              <a:t>No strong buy/sell month identified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EDF5"/>
                </a:solidFill>
              </a:rPr>
              <a:t>Stock driven by events, not calendar cycles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E8EDF5"/>
                </a:solidFill>
              </a:rPr>
              <a:t>Month is lowest-importance feature in model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Insights 3 — Distributions &amp; Return Analysis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5303520" cy="1920240"/>
          </a:xfrm>
          <a:prstGeom prst="rect">
            <a:avLst/>
          </a:prstGeom>
          <a:solidFill>
            <a:srgbClr val="1A27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04672"/>
            <a:ext cx="54864" cy="192024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961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9F8E"/>
                </a:solidFill>
              </a:rPr>
              <a:t>OHLC PRICE DISTRIBUTION — All Right-Skewed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0352" y="123444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All four OHLC columns show identical right-skewed distributions — concentrated below ₹100 with long right tails toward ₹400.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</a:rPr>
              <a:t>This confirms multicollinearity and justifies log1p transformation before modelling.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06440" y="804672"/>
            <a:ext cx="2926080" cy="1920240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97880" y="914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Right-Skewed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897880" y="1298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Distribution of all OHLC features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1627632"/>
            <a:ext cx="24688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6916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E9F8E"/>
                </a:solidFill>
              </a:rPr>
              <a:t>→ Log transform applied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97880" y="19202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E9F8E"/>
                </a:solidFill>
              </a:rPr>
              <a:t>to reduce skewness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5303520" cy="2103120"/>
          </a:xfrm>
          <a:prstGeom prst="rect">
            <a:avLst/>
          </a:prstGeom>
          <a:solidFill>
            <a:srgbClr val="1A27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834640"/>
            <a:ext cx="54864" cy="210312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926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017"/>
                </a:solidFill>
              </a:rPr>
              <a:t>MONTHLY RETURN % — Slightly Left-Skewed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324612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</a:rPr>
              <a:t>Distribution centered near 0%, mean ≈ −0.5%.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Fat left tail from crisis months recording −40% to −60% in a single month.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</a:rPr>
              <a:t>Predominantly green (positive) months pre-2018; red-dominated post-2018.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06440" y="2834640"/>
            <a:ext cx="2926080" cy="603504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897880" y="285292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~60%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12280" y="28529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Positive months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pre-2018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806440" y="3520440"/>
            <a:ext cx="2926080" cy="603504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97880" y="353872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3E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−60%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12280" y="35387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Worst monthly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return (crisis)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806440" y="4206240"/>
            <a:ext cx="2926080" cy="603504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897880" y="422452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99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12280" y="422452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Long-run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</a:rPr>
              <a:t>median return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Hypothesis Testing — 3 Validated Findings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1261872"/>
          </a:xfrm>
          <a:prstGeom prst="rect">
            <a:avLst/>
          </a:prstGeom>
          <a:solidFill>
            <a:srgbClr val="1A27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22960"/>
            <a:ext cx="54864" cy="126187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896112"/>
            <a:ext cx="411480" cy="4114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96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914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Price Crash Post-2018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17043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Test: Independent Samples t-test (one-tailed)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38988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H₀: Mean Close before 2018 = Mean Close after 2018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167335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9BB"/>
                </a:solidFill>
              </a:rPr>
              <a:t>Yes Bank's stock was significantly higher pre-2018. The crisis caused a statistically proven, permanent price collapse.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1024128"/>
            <a:ext cx="2468880" cy="777240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7220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REJECT H₀ 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194560"/>
            <a:ext cx="8412480" cy="1261872"/>
          </a:xfrm>
          <a:prstGeom prst="rect">
            <a:avLst/>
          </a:prstGeom>
          <a:solidFill>
            <a:srgbClr val="1A27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194560"/>
            <a:ext cx="54864" cy="126187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267712"/>
            <a:ext cx="411480" cy="4114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67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286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Rana Kapoor Fraud Impact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54203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Test: Independent Samples t-test (one-tailed)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276148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H₀: Close during fraud period (Sep 2018–Mar 2020) = pre-fraud Close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304495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9BB"/>
                </a:solidFill>
              </a:rPr>
              <a:t>Social news &amp; governance fraud significantly impacted stock prices. External events are statistically proven price drivers.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26480" y="2395728"/>
            <a:ext cx="2468880" cy="777240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72200" y="2514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REJECT H₀ ✓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65760" y="3566160"/>
            <a:ext cx="8412480" cy="1261872"/>
          </a:xfrm>
          <a:prstGeom prst="rect">
            <a:avLst/>
          </a:prstGeom>
          <a:solidFill>
            <a:srgbClr val="1A27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566160"/>
            <a:ext cx="54864" cy="1261872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639312"/>
            <a:ext cx="411480" cy="41148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639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3657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Crisis-Period Volatility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391363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Test: Mann-Whitney U Test (non-parametric)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05840" y="413308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</a:rPr>
              <a:t>H₀: Price Range (High−Low) before 2018 = after 2018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05840" y="441655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9BB"/>
                </a:solidFill>
              </a:rPr>
              <a:t>Intra-month price swings were significantly larger post-2018. The crisis introduced extreme, statistically confirmed volatility.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26480" y="3767328"/>
            <a:ext cx="2468880" cy="777240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72200" y="38862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A1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REJECT H₀ ✓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 &amp; Preprocessing Pipeline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04672"/>
          <a:ext cx="5212080" cy="3749040"/>
        </p:xfrm>
        <a:graphic>
          <a:graphicData uri="http://schemas.openxmlformats.org/drawingml/2006/table">
            <a:tbl>
              <a:tblPr/>
              <a:tblGrid>
                <a:gridCol w="1645920"/>
                <a:gridCol w="1920240"/>
                <a:gridCol w="16459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FA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Formula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FA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6FA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Price_Range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High − Low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Intra-month volatility signal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Price_Change_Pct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(Close−Open)/Open × 100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Monthly return % — momentum indicator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Prev_Close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Close shifted 1 month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Lag-1 autocorrelation — strongest predictor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MA_3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3-month rolling mean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Short-term trend smoothing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MA_6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6-month rolling mean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Medium-term trend smoothing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Year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Extracted from Date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Long-term trend (bull 2005–2018 / bear 2018–2020)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Month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Extracted from Date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5"/>
                          </a:solidFill>
                        </a:rPr>
                        <a:t>Seasonality check (found: no seasonality)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760720" y="804672"/>
            <a:ext cx="3017520" cy="3749040"/>
          </a:xfrm>
          <a:prstGeom prst="rect">
            <a:avLst/>
          </a:prstGeom>
          <a:solidFill>
            <a:srgbClr val="1A27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760720" y="804672"/>
            <a:ext cx="54864" cy="374904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25312" y="8961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9F8E"/>
                </a:solidFill>
              </a:rPr>
              <a:t>PREPROCESSING STEPS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925312" y="1243584"/>
            <a:ext cx="274320" cy="27432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25312" y="1243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263640" y="1243584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Missing Values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63640" y="1399032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bfill for lag/rolling NaNs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25312" y="1792224"/>
            <a:ext cx="274320" cy="27432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25312" y="1792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263640" y="1792224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Outlier Treatment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263640" y="1947672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IQR detected 20 peaks → RETAINED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925312" y="2340864"/>
            <a:ext cx="274320" cy="27432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25312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63640" y="2340864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Log Transform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263640" y="2496312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log1p on skewed OHLC + target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925312" y="2889504"/>
            <a:ext cx="274320" cy="27432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25312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263640" y="2889504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StandardScaler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263640" y="3044952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Zero-mean, unit variance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925312" y="3438144"/>
            <a:ext cx="274320" cy="27432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25312" y="3438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263640" y="3438144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Train-Test Split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63640" y="3593592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80/20, shuffle=False (time-aware)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925312" y="3986784"/>
            <a:ext cx="274320" cy="27432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25312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263640" y="3986784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Final Features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263640" y="4142232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8 selected (dropped Avg_Price)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Models — Performance Comparison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2697480" cy="4114800"/>
          </a:xfrm>
          <a:prstGeom prst="rect">
            <a:avLst/>
          </a:prstGeom>
          <a:solidFill>
            <a:srgbClr val="1A27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804672"/>
            <a:ext cx="2697480" cy="6400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91640" y="896112"/>
            <a:ext cx="1234440" cy="274320"/>
          </a:xfrm>
          <a:prstGeom prst="rect">
            <a:avLst/>
          </a:prstGeom>
          <a:solidFill>
            <a:srgbClr val="8899BB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91640" y="8961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Baseline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Linear Regression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D6FA4"/>
                </a:solidFill>
              </a:rPr>
              <a:t>Ridge Regularized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51790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</a:rPr>
              <a:t>L2 regularization handles multicollinearity in OHLC features. Alpha tuned via GridSearchCV.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</a:rPr>
              <a:t>✔ Strengths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E8EDF5"/>
                </a:solidFill>
              </a:rPr>
              <a:t>Simple, interpretable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E8EDF5"/>
                </a:solidFill>
              </a:rPr>
              <a:t>Fast training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E8EDF5"/>
                </a:solidFill>
              </a:rPr>
              <a:t>Handles regularization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364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</a:rPr>
              <a:t>✘ Limitations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59359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8899BB"/>
                </a:solidFill>
              </a:rPr>
              <a:t>Misses non-linear patterns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8899BB"/>
                </a:solidFill>
              </a:rPr>
              <a:t>Struggles with regime change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804672"/>
            <a:ext cx="2697480" cy="4114800"/>
          </a:xfrm>
          <a:prstGeom prst="rect">
            <a:avLst/>
          </a:prstGeom>
          <a:solidFill>
            <a:srgbClr val="1A27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804672"/>
            <a:ext cx="2697480" cy="6400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896112"/>
            <a:ext cx="1234440" cy="274320"/>
          </a:xfrm>
          <a:prstGeom prst="rect">
            <a:avLst/>
          </a:prstGeom>
          <a:solidFill>
            <a:srgbClr val="0E9F8E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8961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Strong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37560" y="9144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Random Forest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37560" y="12344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9F8E"/>
                </a:solidFill>
              </a:rPr>
              <a:t>Ensemble Bagging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151790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</a:rPr>
              <a:t>Multiple decision trees on bootstrapped samples. Handles non-linearity well.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37560" y="21488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</a:rPr>
              <a:t>✔ Strengths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23774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E8EDF5"/>
                </a:solidFill>
              </a:rPr>
              <a:t>Non-linear patterns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E8EDF5"/>
                </a:solidFill>
              </a:rPr>
              <a:t>Feature importance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E8EDF5"/>
                </a:solidFill>
              </a:rPr>
              <a:t>Robust to outliers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3364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</a:rPr>
              <a:t>✘ Limitations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37560" y="359359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8899BB"/>
                </a:solidFill>
              </a:rPr>
              <a:t>Slower prediction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8899BB"/>
                </a:solidFill>
              </a:rPr>
              <a:t>Less interpretable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0760" y="804672"/>
            <a:ext cx="2697480" cy="4114800"/>
          </a:xfrm>
          <a:prstGeom prst="rect">
            <a:avLst/>
          </a:prstGeom>
          <a:solidFill>
            <a:srgbClr val="1A27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804672"/>
            <a:ext cx="2697480" cy="640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52360" y="896112"/>
            <a:ext cx="1234440" cy="274320"/>
          </a:xfrm>
          <a:prstGeom prst="rect">
            <a:avLst/>
          </a:prstGeom>
          <a:solidFill>
            <a:srgbClr val="D4A017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452360" y="8961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BEST MODEL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17920" y="9144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Gradient Boosting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17920" y="12344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A017"/>
                </a:solidFill>
              </a:rPr>
              <a:t>Sequential Boosting ★ FINAL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1517904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</a:rPr>
              <a:t>Sequential error correction via gradient descent. Best at capturing regime changes.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17920" y="21488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</a:rPr>
              <a:t>✔ Strengths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23774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E8EDF5"/>
                </a:solidFill>
              </a:rPr>
              <a:t>Highest R² &amp; lowest RMSE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E8EDF5"/>
                </a:solidFill>
              </a:rPr>
              <a:t>Handles bull+crash phases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E8EDF5"/>
                </a:solidFill>
              </a:rPr>
              <a:t>Feature importance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3364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</a:rPr>
              <a:t>✘ Limitations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0" y="359359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8899BB"/>
                </a:solidFill>
              </a:rPr>
              <a:t>More tuning needed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8899BB"/>
                </a:solidFill>
              </a:rPr>
              <a:t>Slower than RF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5010912"/>
            <a:ext cx="8503920" cy="274320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11480" y="502920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All 3 models tuned with GridSearchCV (5-fold CV) + cross_val_score validation  |  Final model saved via joblib for deployment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Metrics &amp; Final Model Selection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2697480" cy="2057400"/>
          </a:xfrm>
          <a:prstGeom prst="rect">
            <a:avLst/>
          </a:prstGeom>
          <a:solidFill>
            <a:srgbClr val="1A27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04672"/>
            <a:ext cx="54864" cy="205740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868680"/>
            <a:ext cx="548640" cy="54864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868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R²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70432" y="89611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R² Score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15087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Proportion of variance in Close price explained by model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193852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EDF5"/>
                </a:solidFill>
              </a:rPr>
              <a:t>Higher R² = more reliable predictions. R² &gt; 0.95 means the model explains 95%+ of price movements.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804672"/>
            <a:ext cx="2697480" cy="2057400"/>
          </a:xfrm>
          <a:prstGeom prst="rect">
            <a:avLst/>
          </a:prstGeom>
          <a:solidFill>
            <a:srgbClr val="1A27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804672"/>
            <a:ext cx="54864" cy="205740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10712" y="868680"/>
            <a:ext cx="548640" cy="54864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868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√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50792" y="89611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RMSE (₹)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10712" y="15087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Root Mean Square Error — in same INR units as Close price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10712" y="193852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EDF5"/>
                </a:solidFill>
              </a:rPr>
              <a:t>RMSE of ₹5 on a ₹100 stock = 5% error. Directly translates to P&amp;L risk for investors.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804672"/>
            <a:ext cx="2697480" cy="2057400"/>
          </a:xfrm>
          <a:prstGeom prst="rect">
            <a:avLst/>
          </a:prstGeom>
          <a:solidFill>
            <a:srgbClr val="1A27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804672"/>
            <a:ext cx="54864" cy="20574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91072" y="868680"/>
            <a:ext cx="548640" cy="5486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91072" y="868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Σ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31152" y="89611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MAE (₹)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91072" y="15087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Mean Absolute Error — average prediction deviation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91072" y="193852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EDF5"/>
                </a:solidFill>
              </a:rPr>
              <a:t>Less sensitive to crisis-period outliers. More robust measure of typical prediction accuracy.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017520"/>
            <a:ext cx="8412480" cy="1920240"/>
          </a:xfrm>
          <a:prstGeom prst="rect">
            <a:avLst/>
          </a:prstGeom>
          <a:solidFill>
            <a:srgbClr val="1A27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017520"/>
            <a:ext cx="54864" cy="19202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12724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</a:rPr>
              <a:t>⭐  FINAL SELECTED MODEL: Gradient Boosting Regressor (Tuned)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8640" y="3520440"/>
            <a:ext cx="7955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</a:rPr>
              <a:t>Achieves highest R² and lowest RMSE/MAE across all 5 model variants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</a:rPr>
              <a:t>Handles the non-linear bull-run + crash trajectory that Linear Regression cannot capture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</a:rPr>
              <a:t>Robust to multicollinearity in OHLC features — unlike Ridge Regression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</a:rPr>
              <a:t>Sequential boosting corrects residual errors — critical for the volatile 2018–2020 test period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</a:rPr>
              <a:t>Feature importance explainability via feature_importances_ attribute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</a:rPr>
              <a:t>Saved via joblib — deployment-ready for real-time prediction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Explainability — Feature Importance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777240"/>
          <a:ext cx="51206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669280" y="777240"/>
            <a:ext cx="3108960" cy="594360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760720" y="8229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17"/>
                </a:solidFill>
              </a:rPr>
              <a:t>Open (28%)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60720" y="10515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Single strongest predictor — opening price directly anchors closing price each month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669280" y="1444752"/>
            <a:ext cx="3108960" cy="594360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0720" y="1490472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6FA4"/>
                </a:solidFill>
              </a:rPr>
              <a:t>High / Low (~42%)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60720" y="171907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Together with Open, the full OHLC range defines the price environment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69280" y="2112264"/>
            <a:ext cx="3108960" cy="594360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2157984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F8E"/>
                </a:solidFill>
              </a:rPr>
              <a:t>Prev_Close (18%)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60720" y="238658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Autocorrelation feature — last month's price is the best non-OHLC predictor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69280" y="2779776"/>
            <a:ext cx="3108960" cy="594360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60720" y="2825496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9F8E"/>
                </a:solidFill>
              </a:rPr>
              <a:t>Price_Range (12%)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760720" y="305409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Volatility signal — especially important during the 2018–2020 crisis months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69280" y="3447288"/>
            <a:ext cx="3108960" cy="594360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60720" y="349300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6FA4"/>
                </a:solidFill>
              </a:rPr>
              <a:t>Year (9%)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760720" y="372160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Captures long-term trend: bull 2005–2018 vs bear 2018–2020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669280" y="4114800"/>
            <a:ext cx="3108960" cy="594360"/>
          </a:xfrm>
          <a:prstGeom prst="rect">
            <a:avLst/>
          </a:prstGeom>
          <a:solidFill>
            <a:srgbClr val="162032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760720" y="41605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899BB"/>
                </a:solidFill>
              </a:rPr>
              <a:t>Month (2%)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760720" y="43891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</a:rPr>
              <a:t>Lowest — confirms absence of monthly seasonality found in EDA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Conclusions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2606040" cy="1783080"/>
          </a:xfrm>
          <a:prstGeom prst="rect">
            <a:avLst/>
          </a:prstGeom>
          <a:solidFill>
            <a:srgbClr val="1A27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822960"/>
            <a:ext cx="2606040" cy="4572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📈  Two-Phase Stock Behaviour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Yes Bank demonstrated a 15-year bull run (2005–2018) followed by a −97% crash (2018–2020). Both phases confirmed via hypothesis testing.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54680" y="822960"/>
            <a:ext cx="2606040" cy="1783080"/>
          </a:xfrm>
          <a:prstGeom prst="rect">
            <a:avLst/>
          </a:prstGeom>
          <a:solidFill>
            <a:srgbClr val="1A27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154680" y="822960"/>
            <a:ext cx="2606040" cy="457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914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📰  Social News Drives Stock Prices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91840" y="13258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The Rana Kapoor fraud case caused a statistically significant price decline. External governance events directly impacted OHLC values.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89320" y="822960"/>
            <a:ext cx="2606040" cy="1783080"/>
          </a:xfrm>
          <a:prstGeom prst="rect">
            <a:avLst/>
          </a:prstGeom>
          <a:solidFill>
            <a:srgbClr val="1A27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89320" y="822960"/>
            <a:ext cx="2606040" cy="4572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914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🔁  High Autocorrelation in Prices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126480" y="13258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Prev_Close is among the top predictors. Stock prices are 'sticky' month-to-month — last month's close predicts this month's close with high accuracy.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788920"/>
            <a:ext cx="2606040" cy="1783080"/>
          </a:xfrm>
          <a:prstGeom prst="rect">
            <a:avLst/>
          </a:prstGeom>
          <a:solidFill>
            <a:srgbClr val="1A27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788920"/>
            <a:ext cx="2606040" cy="45720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📅  No Monthly Seasonality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32918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Month-of-year is the weakest feature. Yes Bank's stock movements were driven by events and macro trends, not calendar cycles.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54680" y="2788920"/>
            <a:ext cx="2606040" cy="1783080"/>
          </a:xfrm>
          <a:prstGeom prst="rect">
            <a:avLst/>
          </a:prstGeom>
          <a:solidFill>
            <a:srgbClr val="1A27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54680" y="2788920"/>
            <a:ext cx="260604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⭐  Gradient Boosting is the Best Model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291840" y="32918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Outperformed Linear Regression and Random Forest on the test set (2018–2020 crisis period). Highest R², lowest RMSE &amp; MAE.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89320" y="2788920"/>
            <a:ext cx="2606040" cy="1783080"/>
          </a:xfrm>
          <a:prstGeom prst="rect">
            <a:avLst/>
          </a:prstGeom>
          <a:solidFill>
            <a:srgbClr val="1A2744"/>
          </a:solidFill>
          <a:ln w="635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89320" y="2788920"/>
            <a:ext cx="2606040" cy="4572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🚀  Deployment Ready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126480" y="32918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Model and StandardScaler saved via joblib. Validated on unseen data. Ready for integration into real-time investment decision systems.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E9F8E"/>
                </a:solidFill>
              </a:rPr>
              <a:t>Yes Bank Stock Closing Price Prediction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0" y="2514600"/>
            <a:ext cx="3657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2186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Records Analyzed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21408" y="27432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121408" y="32186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EDA Charts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785616" y="27432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785616" y="32186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Hypotheses Tested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49824" y="27432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49824" y="32186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ML Models Built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14032" y="27432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 &gt; 0.95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114032" y="32186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</a:rPr>
              <a:t>Target Accuracy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0" y="3657600"/>
            <a:ext cx="3657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7490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Harshvardhan Paradkar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</a:rPr>
              <a:t>Machine Learning &amp; GenAI with Microsoft Azure  |  ML Capstone Project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44348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E9F8E"/>
                </a:solidFill>
              </a:rPr>
              <a:t>github.com/paradkarharsh/Yes-Bank-Stock-Prediction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 Bank Stock Price Prediction — Insights</dc:title>
  <dc:subject>PptxGenJS Presentation</dc:subject>
  <dc:creator>Harshvardhan Paradkar</dc:creator>
  <cp:lastModifiedBy>Harshvardhan Paradkar</cp:lastModifiedBy>
  <cp:revision>1</cp:revision>
  <dcterms:created xsi:type="dcterms:W3CDTF">2026-05-12T09:44:37Z</dcterms:created>
  <dcterms:modified xsi:type="dcterms:W3CDTF">2026-05-12T09:44:37Z</dcterms:modified>
</cp:coreProperties>
</file>